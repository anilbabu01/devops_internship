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81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011680"/>
            <a:ext cx="6400800" cy="6400800"/>
          </a:xfrm>
          <a:prstGeom prst="ellipse">
            <a:avLst/>
          </a:prstGeom>
          <a:solidFill>
            <a:srgbClr val="0A6E8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291840"/>
            <a:ext cx="5943600" cy="5943600"/>
          </a:xfrm>
          <a:prstGeom prst="ellipse">
            <a:avLst/>
          </a:prstGeom>
          <a:solidFill>
            <a:srgbClr val="0E8FAE">
              <a:alpha val="22000"/>
            </a:srgbClr>
          </a:solidFill>
          <a:ln/>
        </p:spPr>
      </p:sp>
      <p:pic>
        <p:nvPicPr>
          <p:cNvPr id="5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685800"/>
            <a:ext cx="228600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Command Reference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18304" y="4160520"/>
            <a:ext cx="2743200" cy="0"/>
          </a:xfrm>
          <a:prstGeom prst="line">
            <a:avLst/>
          </a:prstGeom>
          <a:noFill/>
          <a:ln w="19050">
            <a:solidFill>
              <a:srgbClr val="0E8F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3434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commit to CI / CD — every command explained with diagrams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5806440"/>
            <a:ext cx="3200400" cy="502920"/>
          </a:xfrm>
          <a:prstGeom prst="roundRect">
            <a:avLst>
              <a:gd name="adj" fmla="val 50909"/>
            </a:avLst>
          </a:prstGeom>
          <a:solidFill>
            <a:srgbClr val="0E8FAE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5806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 TUTORIAL BY 8BIT SYSTEM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492240" cy="3566160"/>
          </a:xfrm>
          <a:prstGeom prst="roundRect">
            <a:avLst>
              <a:gd name="adj" fmla="val 3077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Distributed Version Control System (DVCS) used 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483864"/>
            <a:ext cx="146304" cy="146304"/>
          </a:xfrm>
          <a:prstGeom prst="ellipse">
            <a:avLst/>
          </a:prstGeom>
          <a:solidFill>
            <a:srgbClr val="E8552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4290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 made to source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050792"/>
            <a:ext cx="146304" cy="146304"/>
          </a:xfrm>
          <a:prstGeom prst="ellipse">
            <a:avLst/>
          </a:prstGeom>
          <a:solidFill>
            <a:srgbClr val="E8552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9959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multiple developers collaborate at once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617720"/>
            <a:ext cx="146304" cy="146304"/>
          </a:xfrm>
          <a:prstGeom prst="ellipse">
            <a:avLst/>
          </a:prstGeom>
          <a:solidFill>
            <a:srgbClr val="E8552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5628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complete, recoverable project history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184648"/>
            <a:ext cx="146304" cy="146304"/>
          </a:xfrm>
          <a:prstGeom prst="ellipse">
            <a:avLst/>
          </a:prstGeom>
          <a:solidFill>
            <a:srgbClr val="E855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297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offline — every clone is a full repository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4233672" cy="3566160"/>
          </a:xfrm>
          <a:prstGeom prst="roundRect">
            <a:avLst>
              <a:gd name="adj" fmla="val 3077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51460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32004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E8FAE"/>
          </a:solidFill>
          <a:ln/>
        </p:spPr>
      </p:sp>
      <p:sp>
        <p:nvSpPr>
          <p:cNvPr id="18" name="Shape 16"/>
          <p:cNvSpPr/>
          <p:nvPr/>
        </p:nvSpPr>
        <p:spPr>
          <a:xfrm>
            <a:off x="9921240" y="32004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E8FAE"/>
          </a:solidFill>
          <a:ln/>
        </p:spPr>
      </p:sp>
      <p:sp>
        <p:nvSpPr>
          <p:cNvPr id="19" name="Shape 17"/>
          <p:cNvSpPr/>
          <p:nvPr/>
        </p:nvSpPr>
        <p:spPr>
          <a:xfrm>
            <a:off x="8933688" y="443484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E8FAE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21240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33688" y="44348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59368" y="3474720"/>
            <a:ext cx="960120" cy="868680"/>
          </a:xfrm>
          <a:prstGeom prst="line">
            <a:avLst/>
          </a:prstGeom>
          <a:noFill/>
          <a:ln w="19050">
            <a:solidFill>
              <a:srgbClr val="6FE3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46920" y="3749040"/>
            <a:ext cx="685800" cy="594360"/>
          </a:xfrm>
          <a:prstGeom prst="line">
            <a:avLst/>
          </a:prstGeom>
          <a:noFill/>
          <a:ln w="19050">
            <a:solidFill>
              <a:srgbClr val="6FE3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5166360"/>
            <a:ext cx="3776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holds a full copy of the project history.</a:t>
            </a:r>
            <a:endParaRPr lang="en-US" sz="1050" dirty="0"/>
          </a:p>
        </p:txBody>
      </p:sp>
      <p:pic>
        <p:nvPicPr>
          <p:cNvPr id="26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Git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setup path for your operating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26517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FAE"/>
          </a:solidFill>
          <a:ln/>
        </p:spPr>
      </p:sp>
      <p:sp>
        <p:nvSpPr>
          <p:cNvPr id="8" name="Text 6"/>
          <p:cNvSpPr/>
          <p:nvPr/>
        </p:nvSpPr>
        <p:spPr>
          <a:xfrm>
            <a:off x="1847088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218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062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git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41848" y="26517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FAE"/>
          </a:solidFill>
          <a:ln/>
        </p:spPr>
      </p:sp>
      <p:sp>
        <p:nvSpPr>
          <p:cNvPr id="14" name="Text 12"/>
          <p:cNvSpPr/>
          <p:nvPr/>
        </p:nvSpPr>
        <p:spPr>
          <a:xfrm>
            <a:off x="5641848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/ Fedora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42062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2181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2062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yum install git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36608" y="26517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436608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38160" y="3703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42062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2181A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42062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from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git-scm.com/downloads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 any time with the command below.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571500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5715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200" dirty="0"/>
          </a:p>
        </p:txBody>
      </p:sp>
      <p:pic>
        <p:nvPicPr>
          <p:cNvPr id="27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change travels from your editor to the remote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429000"/>
            <a:ext cx="2157984" cy="1143000"/>
          </a:xfrm>
          <a:prstGeom prst="roundRect">
            <a:avLst>
              <a:gd name="adj" fmla="val 8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429000"/>
            <a:ext cx="21579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9624" y="3429000"/>
            <a:ext cx="2157984" cy="1143000"/>
          </a:xfrm>
          <a:prstGeom prst="roundRect">
            <a:avLst>
              <a:gd name="adj" fmla="val 8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9624" y="3429000"/>
            <a:ext cx="21579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30568" y="3429000"/>
            <a:ext cx="2157984" cy="1143000"/>
          </a:xfrm>
          <a:prstGeom prst="roundRect">
            <a:avLst>
              <a:gd name="adj" fmla="val 8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30568" y="3429000"/>
            <a:ext cx="21579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11512" y="3429000"/>
            <a:ext cx="2157984" cy="1143000"/>
          </a:xfrm>
          <a:prstGeom prst="roundRect">
            <a:avLst>
              <a:gd name="adj" fmla="val 8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11512" y="3429000"/>
            <a:ext cx="21579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45752" y="4626864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/ Bitbucket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99816" y="3918204"/>
            <a:ext cx="676656" cy="164592"/>
          </a:xfrm>
          <a:prstGeom prst="rightArrow">
            <a:avLst/>
          </a:prstGeom>
          <a:solidFill>
            <a:srgbClr val="0E8FAE"/>
          </a:solidFill>
          <a:ln/>
        </p:spPr>
      </p:sp>
      <p:sp>
        <p:nvSpPr>
          <p:cNvPr id="16" name="Text 14"/>
          <p:cNvSpPr/>
          <p:nvPr/>
        </p:nvSpPr>
        <p:spPr>
          <a:xfrm>
            <a:off x="2843784" y="3063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918204"/>
            <a:ext cx="676656" cy="164592"/>
          </a:xfrm>
          <a:prstGeom prst="rightArrow">
            <a:avLst/>
          </a:prstGeom>
          <a:solidFill>
            <a:srgbClr val="0E8FAE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3063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1704" y="3918204"/>
            <a:ext cx="676656" cy="164592"/>
          </a:xfrm>
          <a:prstGeom prst="rightArrow">
            <a:avLst/>
          </a:prstGeom>
          <a:solidFill>
            <a:srgbClr val="0E8FAE"/>
          </a:solidFill>
          <a:ln/>
        </p:spPr>
      </p:sp>
      <p:sp>
        <p:nvSpPr>
          <p:cNvPr id="20" name="Text 18"/>
          <p:cNvSpPr/>
          <p:nvPr/>
        </p:nvSpPr>
        <p:spPr>
          <a:xfrm>
            <a:off x="8805672" y="3063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single Git command — practice the three-step flow until it's muscle memory.</a:t>
            </a:r>
            <a:endParaRPr lang="en-US" sz="1300" dirty="0"/>
          </a:p>
        </p:txBody>
      </p:sp>
      <p:pic>
        <p:nvPicPr>
          <p:cNvPr id="2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Git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identity before your very first 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"Anil Babu"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global user 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900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"..."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990088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global user email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4845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648456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global configuration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068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user.name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4306824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configured user name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65192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9651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user.email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965192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configured user email</a:t>
            </a:r>
            <a:endParaRPr lang="en-US" sz="1300" dirty="0"/>
          </a:p>
        </p:txBody>
      </p:sp>
      <p:pic>
        <p:nvPicPr>
          <p:cNvPr id="21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Git Commands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moves — part 1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new repository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900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990088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remote repository locally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4845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648456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repository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068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4306824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specific file to staging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65192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9651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965192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files to staging</a:t>
            </a:r>
            <a:endParaRPr lang="en-US" sz="1300" dirty="0"/>
          </a:p>
        </p:txBody>
      </p:sp>
      <p:pic>
        <p:nvPicPr>
          <p:cNvPr id="21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Git Commands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moves — part 2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staged changes locally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900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 "message"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990088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staging, commit tracked changes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4845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648456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local commits to remote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068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4306824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remote changes without merging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65192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9651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965192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remote changes and merge</a:t>
            </a:r>
            <a:endParaRPr lang="en-US" sz="1300" dirty="0"/>
          </a:p>
        </p:txBody>
      </p:sp>
      <p:pic>
        <p:nvPicPr>
          <p:cNvPr id="21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Branch?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new work from the stable main line until it's ready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9875520" cy="0"/>
          </a:xfrm>
          <a:prstGeom prst="line">
            <a:avLst/>
          </a:prstGeom>
          <a:noFill/>
          <a:ln w="38100">
            <a:solidFill>
              <a:srgbClr val="1218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6696" y="3099816"/>
            <a:ext cx="201168" cy="201168"/>
          </a:xfrm>
          <a:prstGeom prst="ellipse">
            <a:avLst/>
          </a:prstGeom>
          <a:solidFill>
            <a:srgbClr val="1218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3099816"/>
            <a:ext cx="201168" cy="201168"/>
          </a:xfrm>
          <a:prstGeom prst="ellipse">
            <a:avLst/>
          </a:prstGeom>
          <a:solidFill>
            <a:srgbClr val="1218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4936" y="3099816"/>
            <a:ext cx="201168" cy="201168"/>
          </a:xfrm>
          <a:prstGeom prst="ellipse">
            <a:avLst/>
          </a:prstGeom>
          <a:solidFill>
            <a:srgbClr val="1218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3200400"/>
            <a:ext cx="0" cy="1280160"/>
          </a:xfrm>
          <a:prstGeom prst="line">
            <a:avLst/>
          </a:prstGeom>
          <a:noFill/>
          <a:ln w="25400">
            <a:solidFill>
              <a:srgbClr val="0E8FA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0" y="4480560"/>
            <a:ext cx="4937760" cy="0"/>
          </a:xfrm>
          <a:prstGeom prst="line">
            <a:avLst/>
          </a:prstGeom>
          <a:noFill/>
          <a:ln w="38100">
            <a:solidFill>
              <a:srgbClr val="0E8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feature-login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57016" y="4379976"/>
            <a:ext cx="201168" cy="201168"/>
          </a:xfrm>
          <a:prstGeom prst="ellipse">
            <a:avLst/>
          </a:prstGeom>
          <a:solidFill>
            <a:srgbClr val="0E8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3016" y="4379976"/>
            <a:ext cx="201168" cy="201168"/>
          </a:xfrm>
          <a:prstGeom prst="ellipse">
            <a:avLst/>
          </a:prstGeom>
          <a:solidFill>
            <a:srgbClr val="0E8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79976"/>
            <a:ext cx="201168" cy="201168"/>
          </a:xfrm>
          <a:prstGeom prst="ellipse">
            <a:avLst/>
          </a:prstGeom>
          <a:solidFill>
            <a:srgbClr val="0E8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4480560"/>
            <a:ext cx="1280160" cy="-1280160"/>
          </a:xfrm>
          <a:prstGeom prst="line">
            <a:avLst/>
          </a:prstGeom>
          <a:noFill/>
          <a:ln w="25400">
            <a:solidFill>
              <a:srgbClr val="0E8FA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774936" y="3081528"/>
            <a:ext cx="237744" cy="237744"/>
          </a:xfrm>
          <a:prstGeom prst="ellipse">
            <a:avLst/>
          </a:prstGeom>
          <a:solidFill>
            <a:srgbClr val="E855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212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just a movable pointer to a commit — creating one is instant and costs nothing.</a:t>
            </a:r>
            <a:endParaRPr lang="en-US" sz="1300" dirty="0"/>
          </a:p>
        </p:txBody>
      </p:sp>
      <p:pic>
        <p:nvPicPr>
          <p:cNvPr id="21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Commands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switch, rename and clean up branches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feature-login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feature-login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new branch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feature-login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existing branch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feature-login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branch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feature-login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Force-delete a branch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new-name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current branch</a:t>
            </a:r>
            <a:endParaRPr lang="en-US" sz="1150" dirty="0"/>
          </a:p>
        </p:txBody>
      </p:sp>
      <p:pic>
        <p:nvPicPr>
          <p:cNvPr id="27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a Branch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finished work from a feature branch back into main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29184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867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to target branch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3602736"/>
            <a:ext cx="1371600" cy="201168"/>
          </a:xfrm>
          <a:prstGeom prst="rightArrow">
            <a:avLst/>
          </a:prstGeom>
          <a:solidFill>
            <a:srgbClr val="0E8FAE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32186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291840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feature-login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9867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 history into current branch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6344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now contains every commit that feature-login had — the two histories are combined into one line.</a:t>
            </a:r>
            <a:endParaRPr lang="en-US" sz="1350" dirty="0"/>
          </a:p>
        </p:txBody>
      </p:sp>
      <p:pic>
        <p:nvPicPr>
          <p:cNvPr id="16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Conflicts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branches edit the same lines of the same 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688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anildev branch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is anildev"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6118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shivamdev branch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23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is shivamdev"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697480"/>
            <a:ext cx="219456" cy="457200"/>
          </a:xfrm>
          <a:prstGeom prst="downArrow">
            <a:avLst/>
          </a:prstGeom>
          <a:solidFill>
            <a:srgbClr val="0E8FAE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3611880"/>
            <a:ext cx="219456" cy="457200"/>
          </a:xfrm>
          <a:prstGeom prst="downArrow">
            <a:avLst/>
          </a:prstGeom>
          <a:solidFill>
            <a:srgbClr val="0E8FAE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0248" y="3154680"/>
            <a:ext cx="0" cy="457200"/>
          </a:xfrm>
          <a:prstGeom prst="line">
            <a:avLst/>
          </a:prstGeom>
          <a:noFill/>
          <a:ln w="25400">
            <a:solidFill>
              <a:srgbClr val="0E8F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78892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E855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7889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3310128"/>
            <a:ext cx="914400" cy="201168"/>
          </a:xfrm>
          <a:prstGeom prst="rightArrow">
            <a:avLst/>
          </a:prstGeom>
          <a:solidFill>
            <a:srgbClr val="0E8FA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278892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5FAFB"/>
          </a:solidFill>
          <a:ln w="19050">
            <a:solidFill>
              <a:srgbClr val="0E8FAE"/>
            </a:solidFill>
            <a:prstDash val="solid"/>
          </a:ln>
          <a:effectLst>
            <a:outerShdw sx="100000" sy="100000" kx="0" ky="0" algn="bl" rotWithShape="0" blurRad="76200" dist="38100" dir="5400000">
              <a:srgbClr val="1B2A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2880360"/>
            <a:ext cx="3108960" cy="9418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712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incoming / current / both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conflicting lines, choose incoming changes, current changes, or a combination of both, then commit the resolved file.</a:t>
            </a:r>
            <a:endParaRPr lang="en-US" sz="1300" dirty="0"/>
          </a:p>
        </p:txBody>
      </p:sp>
      <p:pic>
        <p:nvPicPr>
          <p:cNvPr id="24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History: Log &amp; Diff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past before you change the future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commit history with details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on a single 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--graph --oneline --all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branches, compact graph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Unstaged changes in working directory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changes ready to commit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main anildev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branches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&lt;c1&gt; &lt;c2&gt;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commits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HEAD~1 HEAD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introduced by latest commit</a:t>
            </a:r>
            <a:endParaRPr lang="en-US" sz="1150" dirty="0"/>
          </a:p>
        </p:txBody>
      </p:sp>
      <p:pic>
        <p:nvPicPr>
          <p:cNvPr id="30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park uncommitted changes without a 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2286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current changes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list of stashes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latest stash, keep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 stash@{1}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specific stash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480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480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latest stash, delete 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5029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most recent stash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12181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577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clear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5577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stashes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281160" y="2286000"/>
            <a:ext cx="2331720" cy="3383280"/>
          </a:xfrm>
          <a:prstGeom prst="roundRect">
            <a:avLst>
              <a:gd name="adj" fmla="val 4706"/>
            </a:avLst>
          </a:prstGeom>
          <a:solidFill>
            <a:srgbClr val="12181A"/>
          </a:solidFill>
          <a:ln/>
        </p:spPr>
      </p:sp>
      <p:sp>
        <p:nvSpPr>
          <p:cNvPr id="28" name="Text 26"/>
          <p:cNvSpPr/>
          <p:nvPr/>
        </p:nvSpPr>
        <p:spPr>
          <a:xfrm>
            <a:off x="9464040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64040" y="2834640"/>
            <a:ext cx="1965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branches mid-task, or pulling updates before you're ready to commit.</a:t>
            </a:r>
            <a:endParaRPr lang="en-US" sz="1100" dirty="0"/>
          </a:p>
        </p:txBody>
      </p:sp>
      <p:pic>
        <p:nvPicPr>
          <p:cNvPr id="30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&amp; Cherry-Pick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or borrow history with precision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Re-applies your commits on top of another base branch, producing a clean, linear history.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448056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Cherry-Pick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changes from one specific commit on another branch into your current branch.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4114800"/>
            <a:ext cx="448056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&lt;commit-id&gt;</a:t>
            </a:r>
            <a:endParaRPr lang="en-US" sz="1200" dirty="0"/>
          </a:p>
        </p:txBody>
      </p:sp>
      <p:pic>
        <p:nvPicPr>
          <p:cNvPr id="16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CHANGES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Restore, Reset &amp; Revert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ways to undo — pick the safe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0E8FA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724912"/>
            <a:ext cx="3520440" cy="164592"/>
          </a:xfrm>
          <a:prstGeom prst="rect">
            <a:avLst/>
          </a:prstGeom>
          <a:solidFill>
            <a:srgbClr val="0E8FA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files to their last committed state. Does not touch history.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1218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file.txt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37744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0E8FA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2724912"/>
            <a:ext cx="3520440" cy="164592"/>
          </a:xfrm>
          <a:prstGeom prst="rect">
            <a:avLst/>
          </a:prstGeom>
          <a:solidFill>
            <a:srgbClr val="0E8FAE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3774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0175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a commit by creating a new commit. Safest for shared repos.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4434840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&lt;commit-id&gt;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0" y="23774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7744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0E8FAE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2724912"/>
            <a:ext cx="3520440" cy="164592"/>
          </a:xfrm>
          <a:prstGeom prst="rect">
            <a:avLst/>
          </a:prstGeom>
          <a:solidFill>
            <a:srgbClr val="0E8FAE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3774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6760" y="30175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branch pointer, rewriting local history.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0" y="4434840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1218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434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ranking:  restore  &lt;  revert  &lt;  reset --hard   (left = safest, right = most destructive)</a:t>
            </a:r>
            <a:endParaRPr lang="en-US" sz="1200" dirty="0"/>
          </a:p>
        </p:txBody>
      </p:sp>
      <p:pic>
        <p:nvPicPr>
          <p:cNvPr id="28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REMOTE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 &amp; Remotes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untrack files, and manage remote links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file.txt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 from repo and disk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--cached file.txt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 but keep file locally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mv old.txt new.txt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file in git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list of remotes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remote URL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set-url origin &lt;url&gt;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remote URL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remove origin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remote</a:t>
            </a:r>
            <a:endParaRPr lang="en-US" sz="1150" dirty="0"/>
          </a:p>
        </p:txBody>
      </p:sp>
      <p:pic>
        <p:nvPicPr>
          <p:cNvPr id="27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Files &amp; Aliases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 clean and your commands short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6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and folders Git should never track: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2900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6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Aliases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shortcut for a longer Git command: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3520440"/>
            <a:ext cx="475488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520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alias.st status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0965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alias 'st' for 'git status'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4572000"/>
            <a:ext cx="475488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5148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alias</a:t>
            </a:r>
            <a:endParaRPr lang="en-US" sz="1100" dirty="0"/>
          </a:p>
        </p:txBody>
      </p:sp>
      <p:pic>
        <p:nvPicPr>
          <p:cNvPr id="20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Reflog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safety net — recover almost anything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every HEAD movement in the local repo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455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HEAD@{1}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3145536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HEAD to a previous reflog position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59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&lt;commit-id&gt;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95935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specific commit found in the reflog</a:t>
            </a:r>
            <a:endParaRPr lang="en-US" sz="1300" dirty="0"/>
          </a:p>
        </p:txBody>
      </p:sp>
      <p:pic>
        <p:nvPicPr>
          <p:cNvPr id="15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/ CD with GitHub Actions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that runs whenever something happens in your repo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4320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E8FA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2788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builds and tests code whenever developers push changes.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5FAFB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74320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E8FA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18120" y="2788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/ 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deploys the application after tests pass.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 configuration lives in a single YAML file: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5257800"/>
            <a:ext cx="4526280" cy="502920"/>
          </a:xfrm>
          <a:prstGeom prst="roundRect">
            <a:avLst>
              <a:gd name="adj" fmla="val 12727"/>
            </a:avLst>
          </a:prstGeom>
          <a:solidFill>
            <a:srgbClr val="12181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52578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.github/workflows/deploy.yml</a:t>
            </a:r>
            <a:endParaRPr lang="en-US" sz="1200" dirty="0"/>
          </a:p>
        </p:txBody>
      </p:sp>
      <p:pic>
        <p:nvPicPr>
          <p:cNvPr id="19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push to a live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0E8FAE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45059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9" name="Shape 7"/>
          <p:cNvSpPr/>
          <p:nvPr/>
        </p:nvSpPr>
        <p:spPr>
          <a:xfrm>
            <a:off x="2091363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F5FAFB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1363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79223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5527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F5FAFB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5527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3386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359690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F5FAFB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9690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7550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3854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F5FAFB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3854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81713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28017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F5FAFB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8017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15877" y="4018788"/>
            <a:ext cx="128016" cy="146304"/>
          </a:xfrm>
          <a:prstGeom prst="rightArrow">
            <a:avLst/>
          </a:prstGeom>
          <a:solidFill>
            <a:srgbClr val="E855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62181" y="3566160"/>
            <a:ext cx="1469571" cy="1051560"/>
          </a:xfrm>
          <a:prstGeom prst="roundRect">
            <a:avLst>
              <a:gd name="adj" fmla="val 6957"/>
            </a:avLst>
          </a:prstGeom>
          <a:solidFill>
            <a:srgbClr val="0E8FAE"/>
          </a:solidFill>
          <a:ln w="15875">
            <a:solidFill>
              <a:srgbClr val="0E8F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62181" y="3566160"/>
            <a:ext cx="146957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12181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(or other trigger event) kicks off this pipeline automatically — no manual steps required.</a:t>
            </a:r>
            <a:endParaRPr lang="en-US" sz="1300" dirty="0"/>
          </a:p>
        </p:txBody>
      </p:sp>
      <p:pic>
        <p:nvPicPr>
          <p:cNvPr id="28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8F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Trigger Events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kick off a GitHub Actions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code is pushed to a branch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pull_request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 PR is created, updated, or reopened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workflow_dispatch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manually from the Actions page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cron schedule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68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2468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 Release is published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55264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55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0" y="32552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an issue is opened, closed, edited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41648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416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40416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 branch or tag is created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828032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12181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828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 fork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0" y="48280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branch/tag delete, or repo fork</a:t>
            </a:r>
            <a:endParaRPr lang="en-US" sz="1150" dirty="0"/>
          </a:p>
        </p:txBody>
      </p:sp>
      <p:pic>
        <p:nvPicPr>
          <p:cNvPr id="30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291072"/>
            <a:ext cx="621792" cy="42062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6309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65992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00400"/>
            <a:ext cx="6400800" cy="6400800"/>
          </a:xfrm>
          <a:prstGeom prst="ellipse">
            <a:avLst/>
          </a:prstGeom>
          <a:solidFill>
            <a:srgbClr val="0A6E8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560320"/>
            <a:ext cx="5943600" cy="5943600"/>
          </a:xfrm>
          <a:prstGeom prst="ellipse">
            <a:avLst/>
          </a:prstGeom>
          <a:solidFill>
            <a:srgbClr val="0E8FAE">
              <a:alpha val="22000"/>
            </a:srgbClr>
          </a:solidFill>
          <a:ln/>
        </p:spPr>
      </p:sp>
      <p:pic>
        <p:nvPicPr>
          <p:cNvPr id="4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777240"/>
            <a:ext cx="228600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6060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WATCHING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188720" y="34290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every command from this video in your own repository.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70248" y="416052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E8552E"/>
          </a:solidFill>
          <a:ln/>
        </p:spPr>
      </p:sp>
      <p:sp>
        <p:nvSpPr>
          <p:cNvPr id="8" name="Text 5"/>
          <p:cNvSpPr/>
          <p:nvPr/>
        </p:nvSpPr>
        <p:spPr>
          <a:xfrm>
            <a:off x="4270248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SHARE · SUBSCRIBE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074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Babu  ·  8bit System Private Limited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54406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anilb9850@gmail.com   |   github.com/AnilBabu01   |   linkedin.com/in/anil-babu-19958a208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2026-08-06T06:43:19Z</dcterms:created>
  <dcterms:modified xsi:type="dcterms:W3CDTF">2026-08-06T06:43:19Z</dcterms:modified>
</cp:coreProperties>
</file>