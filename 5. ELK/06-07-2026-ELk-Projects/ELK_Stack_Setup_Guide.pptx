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92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286000"/>
            <a:ext cx="5486400" cy="5486400"/>
          </a:xfrm>
          <a:prstGeom prst="ellipse">
            <a:avLst/>
          </a:prstGeom>
          <a:solidFill>
            <a:srgbClr val="0F2530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3657600"/>
            <a:ext cx="5486400" cy="5486400"/>
          </a:xfrm>
          <a:prstGeom prst="ellipse">
            <a:avLst/>
          </a:prstGeom>
          <a:solidFill>
            <a:srgbClr val="0F2530"/>
          </a:solidFill>
          <a:ln/>
        </p:spPr>
      </p:sp>
      <p:pic>
        <p:nvPicPr>
          <p:cNvPr id="4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6" y="640080"/>
            <a:ext cx="2743200" cy="1847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8803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ELK STACK SETUP GUIDE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097280" y="361188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Method — Installation, Configuration &amp; Verification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545836" y="4251960"/>
            <a:ext cx="1097280" cy="0"/>
          </a:xfrm>
          <a:prstGeom prst="line">
            <a:avLst/>
          </a:prstGeom>
          <a:noFill/>
          <a:ln w="19050">
            <a:solidFill>
              <a:srgbClr val="2A4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48056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with 8bit System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49834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Anil Babu   |   DevOps Notes   |   31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ELK Stack?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open-source tools that work together to collect, store, and visualize log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0936" y="19202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2516" y="2331720"/>
            <a:ext cx="1005840" cy="1005840"/>
          </a:xfrm>
          <a:prstGeom prst="ellipse">
            <a:avLst/>
          </a:prstGeom>
          <a:solidFill>
            <a:srgbClr val="1BA7C4"/>
          </a:solidFill>
          <a:ln/>
        </p:spPr>
      </p:sp>
      <p:sp>
        <p:nvSpPr>
          <p:cNvPr id="7" name="Text 5"/>
          <p:cNvSpPr/>
          <p:nvPr/>
        </p:nvSpPr>
        <p:spPr>
          <a:xfrm>
            <a:off x="1842516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59536" y="3520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Elasticsearch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50976" y="4069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indexes log data for fast search and analytics.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79976" y="19202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91556" y="2331720"/>
            <a:ext cx="1005840" cy="10058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591556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08576" y="3520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Logstash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00016" y="4069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Collects, parses, and transforms logs before they're stored.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9016" y="1920240"/>
            <a:ext cx="3429000" cy="4023360"/>
          </a:xfrm>
          <a:prstGeom prst="roundRect">
            <a:avLst>
              <a:gd name="adj" fmla="val 3200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40596" y="2331720"/>
            <a:ext cx="1005840" cy="100584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17" name="Text 15"/>
          <p:cNvSpPr/>
          <p:nvPr/>
        </p:nvSpPr>
        <p:spPr>
          <a:xfrm>
            <a:off x="9340596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57616" y="35204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Kibana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49056" y="406908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the data with dashboards, charts, and search.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2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 Ways to Set Up ELK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video walks through Method 1 in full — Docker Compose.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9204" y="1965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63143"/>
          </a:solidFill>
          <a:ln w="22225">
            <a:solidFill>
              <a:srgbClr val="1BA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" y="2194560"/>
            <a:ext cx="502920" cy="502920"/>
          </a:xfrm>
          <a:prstGeom prst="ellipse">
            <a:avLst/>
          </a:prstGeom>
          <a:solidFill>
            <a:srgbClr val="1BA7C4"/>
          </a:solidFill>
          <a:ln/>
        </p:spPr>
      </p:sp>
      <p:sp>
        <p:nvSpPr>
          <p:cNvPr id="7" name="Text 5"/>
          <p:cNvSpPr/>
          <p:nvPr/>
        </p:nvSpPr>
        <p:spPr>
          <a:xfrm>
            <a:off x="717804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57884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57884" y="25328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installation &amp; configuration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7804" y="3291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THIS VIDEO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11396" y="1965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9996" y="2194560"/>
            <a:ext cx="502920" cy="502920"/>
          </a:xfrm>
          <a:prstGeom prst="ellipse">
            <a:avLst/>
          </a:prstGeom>
          <a:solidFill>
            <a:srgbClr val="2238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39996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80076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80076" y="25328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installation &amp; service management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3588" y="1965960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2188" y="2194560"/>
            <a:ext cx="502920" cy="502920"/>
          </a:xfrm>
          <a:prstGeom prst="ellipse">
            <a:avLst/>
          </a:prstGeom>
          <a:solidFill>
            <a:srgbClr val="22384A"/>
          </a:solidFill>
          <a:ln/>
        </p:spPr>
      </p:sp>
      <p:sp>
        <p:nvSpPr>
          <p:cNvPr id="18" name="Text 16"/>
          <p:cNvSpPr/>
          <p:nvPr/>
        </p:nvSpPr>
        <p:spPr>
          <a:xfrm>
            <a:off x="8362188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2268" y="21488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2268" y="253288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" y="3913632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" y="4142232"/>
            <a:ext cx="502920" cy="502920"/>
          </a:xfrm>
          <a:prstGeom prst="ellipse">
            <a:avLst/>
          </a:prstGeom>
          <a:solidFill>
            <a:srgbClr val="22384A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57884" y="4096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+ ELK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57884" y="44805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 monitoring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11396" y="3913632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39996" y="4142232"/>
            <a:ext cx="502920" cy="502920"/>
          </a:xfrm>
          <a:prstGeom prst="ellipse">
            <a:avLst/>
          </a:prstGeom>
          <a:solidFill>
            <a:srgbClr val="2238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39996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80076" y="4096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+ ELK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80076" y="44805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log monitoring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33588" y="3913632"/>
            <a:ext cx="3566160" cy="1691640"/>
          </a:xfrm>
          <a:prstGeom prst="roundRect">
            <a:avLst>
              <a:gd name="adj" fmla="val 5405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2188" y="4142232"/>
            <a:ext cx="502920" cy="502920"/>
          </a:xfrm>
          <a:prstGeom prst="ellipse">
            <a:avLst/>
          </a:prstGeom>
          <a:solidFill>
            <a:srgbClr val="22384A"/>
          </a:solidFill>
          <a:ln/>
        </p:spPr>
      </p:sp>
      <p:sp>
        <p:nvSpPr>
          <p:cNvPr id="33" name="Text 31"/>
          <p:cNvSpPr/>
          <p:nvPr/>
        </p:nvSpPr>
        <p:spPr>
          <a:xfrm>
            <a:off x="8362188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FB3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02268" y="409651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+ ELK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02268" y="448056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deployment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38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Prerequisites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56232"/>
            <a:ext cx="548640" cy="54864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Installed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08760" y="21305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with:  docker --version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90672"/>
            <a:ext cx="548640" cy="54864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9718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Installed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508760" y="33649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with:  docker compose version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25112"/>
            <a:ext cx="548640" cy="548640"/>
          </a:xfrm>
          <a:prstGeom prst="ellipse">
            <a:avLst/>
          </a:prstGeom>
          <a:solidFill>
            <a:srgbClr val="4CC38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25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206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RAM Available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08760" y="459943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GB recommended for smooth performance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160020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691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1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1984248"/>
            <a:ext cx="475488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C:\Users\anilb&gt;docker --version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version 29.0.2, build dfc4efb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C:\Users\anilb&gt;docker compose version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version v5.3.1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C:\Users\anilb&gt;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versions in the terminal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5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Folder 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this structure before writing any configuration files.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74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1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167128"/>
            <a:ext cx="4937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elk-docker/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docker-compose.yml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logstash/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logstash.conf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5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sample.log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933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395728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three ELK services as containers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3310128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474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logstash/logstash.conf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877056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how logs are read, parsed &amp; shipped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791456"/>
            <a:ext cx="5394960" cy="1234440"/>
          </a:xfrm>
          <a:prstGeom prst="roundRect">
            <a:avLst>
              <a:gd name="adj" fmla="val 7407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49560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sample.log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5358384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log lines used to test the pipeline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9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docker-compose.yml — Three Services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spins up Elasticsearch, Kibana, and Logstash as connected containers.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6636" y="219456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16293B"/>
          </a:solidFill>
          <a:ln w="22225">
            <a:solidFill>
              <a:srgbClr val="1BA7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" y="24688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1BA7C4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0956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Port(s)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0956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9200 / 9300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0956" y="3931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indexes data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94276" y="219456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16293B"/>
          </a:solidFill>
          <a:ln w="22225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68596" y="24688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68596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Logstash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68596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Port(s)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68596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5044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68596" y="3931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Reads, parses &amp; ships logs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71916" y="219456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16293B"/>
          </a:solidFill>
          <a:ln w="22225">
            <a:solidFill>
              <a:srgbClr val="4CC3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46236" y="2468880"/>
            <a:ext cx="2651760" cy="502920"/>
          </a:xfrm>
          <a:prstGeom prst="roundRect">
            <a:avLst>
              <a:gd name="adj" fmla="val 14545"/>
            </a:avLst>
          </a:prstGeom>
          <a:solidFill>
            <a:srgbClr val="4CC38A"/>
          </a:solidFill>
          <a:ln/>
        </p:spPr>
      </p:sp>
      <p:sp>
        <p:nvSpPr>
          <p:cNvPr id="19" name="Text 17"/>
          <p:cNvSpPr/>
          <p:nvPr/>
        </p:nvSpPr>
        <p:spPr>
          <a:xfrm>
            <a:off x="8746236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Kibana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46236" y="3154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Port(s)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746236" y="34015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5601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46236" y="39319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visualization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17036" y="3429000"/>
            <a:ext cx="777240" cy="0"/>
          </a:xfrm>
          <a:prstGeom prst="line">
            <a:avLst/>
          </a:prstGeom>
          <a:noFill/>
          <a:ln w="25400">
            <a:solidFill>
              <a:srgbClr val="6E859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694676" y="3429000"/>
            <a:ext cx="777240" cy="0"/>
          </a:xfrm>
          <a:prstGeom prst="line">
            <a:avLst/>
          </a:prstGeom>
          <a:noFill/>
          <a:ln w="25400">
            <a:solidFill>
              <a:srgbClr val="6E8598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16636" y="4800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depends_on: elasticsearch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8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EXPLAINED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Configuration Flags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1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environment: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discovery.type=single-node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xpack.security.enabled=false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ES_JAVA_OPTS=-Xms512m -Xmx512m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89320" y="1554480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0" y="1554480"/>
            <a:ext cx="73152" cy="1325880"/>
          </a:xfrm>
          <a:prstGeom prst="rect">
            <a:avLst/>
          </a:prstGeom>
          <a:solidFill>
            <a:srgbClr val="1BA7C4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664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discovery.type=single-node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20574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normally expects multiple nodes. This tells it to run standalone.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3081528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89320" y="3081528"/>
            <a:ext cx="73152" cy="1325880"/>
          </a:xfrm>
          <a:prstGeom prst="rect">
            <a:avLst/>
          </a:prstGeom>
          <a:solidFill>
            <a:srgbClr val="1BA7C4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31912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xpack.security.enabled=false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3584448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off usernames, passwords, TLS &amp; certificates — simplifies local development.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4608576"/>
            <a:ext cx="5669280" cy="1325880"/>
          </a:xfrm>
          <a:prstGeom prst="roundRect">
            <a:avLst>
              <a:gd name="adj" fmla="val 6897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4608576"/>
            <a:ext cx="73152" cy="1325880"/>
          </a:xfrm>
          <a:prstGeom prst="rect">
            <a:avLst/>
          </a:prstGeom>
          <a:solidFill>
            <a:srgbClr val="1BA7C4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47183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ES_JAVA_OPTS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5111496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runs on the JVM. Setting -Xms/-Xmx prevents Java from constantly resizing heap memory.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21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Logstash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logstash/logstash.conf — every pipeline follows the same three-stage 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85216" y="196596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32435"/>
          </a:solidFill>
          <a:ln w="22225">
            <a:solidFill>
              <a:srgbClr val="1BA7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A7C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INPUT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85216" y="2697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{ 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3816" y="31546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sample.log from the start of the file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04488" y="2912364"/>
            <a:ext cx="493776" cy="256032"/>
          </a:xfrm>
          <a:prstGeom prst="rightArrow">
            <a:avLst/>
          </a:prstGeom>
          <a:solidFill>
            <a:srgbClr val="2A4A5C"/>
          </a:solidFill>
          <a:ln/>
        </p:spPr>
      </p:sp>
      <p:sp>
        <p:nvSpPr>
          <p:cNvPr id="10" name="Shape 8"/>
          <p:cNvSpPr/>
          <p:nvPr/>
        </p:nvSpPr>
        <p:spPr>
          <a:xfrm>
            <a:off x="4471416" y="196596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32435"/>
          </a:solidFill>
          <a:ln w="22225">
            <a:solidFill>
              <a:srgbClr val="F2A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2A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FILTER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71416" y="2697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grok { 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0016" y="31546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each line into timestamp, level &amp; message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90688" y="2912364"/>
            <a:ext cx="493776" cy="256032"/>
          </a:xfrm>
          <a:prstGeom prst="rightArrow">
            <a:avLst/>
          </a:prstGeom>
          <a:solidFill>
            <a:srgbClr val="2A4A5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1965960"/>
            <a:ext cx="3246120" cy="2148840"/>
          </a:xfrm>
          <a:prstGeom prst="roundRect">
            <a:avLst>
              <a:gd name="adj" fmla="val 5106"/>
            </a:avLst>
          </a:prstGeom>
          <a:solidFill>
            <a:srgbClr val="132435"/>
          </a:solidFill>
          <a:ln w="22225">
            <a:solidFill>
              <a:srgbClr val="4CC3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1945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CC38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OUTPUT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57616" y="26974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 + stdout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86216" y="315468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parsed data to Elasticsearch &amp; console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5262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1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4818888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grok { match =&gt; { "message" =&gt; "%{TIMESTAMP_ISO8601:timestamp} %{LOGLEVEL:level} %{GREEDYDATA:msg}" } }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turns: 2026-07-31 ERROR Database Connection Failed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into:  timestamp=2026-07-31 | level=ERROR | msg="Database Connection Failed"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4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 Docker Compose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1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all three services in detached mode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BA7C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319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Images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6301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Elasticsearch, Kibana &amp; Logstash images are downloaded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33672"/>
            <a:ext cx="502920" cy="502920"/>
          </a:xfrm>
          <a:prstGeom prst="ellipse">
            <a:avLst/>
          </a:prstGeom>
          <a:solidFill>
            <a:srgbClr val="1BA7C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2153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Network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26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creates the elk-docker_default network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29784"/>
            <a:ext cx="502920" cy="502920"/>
          </a:xfrm>
          <a:prstGeom prst="ellipse">
            <a:avLst/>
          </a:prstGeom>
          <a:solidFill>
            <a:srgbClr val="1BA7C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29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1114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Containers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54223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containers are created &amp; started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155448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1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55080" y="1938528"/>
            <a:ext cx="50749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D:\elk-docker&gt; docker compose up -d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Running 4/4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Network elk-docker_default   Created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Container elasticsearch      Started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Container logstash           Started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✔ Container kibana             Started</a:t>
            </a: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endParaRPr lang="en-US" sz="13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D:\elk-docker&gt;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6053328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containers created and started successfully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6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Verify the Stack Is Running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32435"/>
          </a:solidFill>
          <a:ln w="19050">
            <a:solidFill>
              <a:srgbClr val="1BA7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FD2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Elasticsearch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http://localhost:9200/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1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" y="2990088"/>
            <a:ext cx="43891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"cluster_name": "docker-cluster",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"version": {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"number": "8.18.0"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"tagline": "You Know, for Search"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32435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C38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Kibana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http://localhost:5601/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2606040"/>
            <a:ext cx="4846320" cy="3200400"/>
          </a:xfrm>
          <a:prstGeom prst="roundRect">
            <a:avLst>
              <a:gd name="adj" fmla="val 2286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8346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want to explore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Elasticsearch data?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37033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6293B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977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view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86600" y="4892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A7C4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4892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 view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06840" y="3703320"/>
            <a:ext cx="2011680" cy="1737360"/>
          </a:xfrm>
          <a:prstGeom prst="roundRect">
            <a:avLst>
              <a:gd name="adj" fmla="val 4211"/>
            </a:avLst>
          </a:prstGeom>
          <a:solidFill>
            <a:srgbClr val="16293B"/>
          </a:solidFill>
          <a:ln w="12700">
            <a:solidFill>
              <a:srgbClr val="2A4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3977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ES|QL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81160" y="4892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BA7C4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4892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ES|QL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5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Kibana Dev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Elasticsearch directly from Kibana's built-in console.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41F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51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2304288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_cat/nodes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method used for the request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37033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_cat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0" y="44348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— returns compact, human-readable output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370332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6760" y="44348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— lists the nodes in the cluster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9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Simulating a Two-Node Cluster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Elasticsearch containers on one machine that discover each other over the Docker network.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192024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16293B"/>
          </a:solidFill>
          <a:ln w="19050">
            <a:solidFill>
              <a:srgbClr val="1BA7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84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node.name=node-1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9200 / 9300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165592" y="192024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16293B"/>
          </a:solidFill>
          <a:ln w="19050">
            <a:solidFill>
              <a:srgbClr val="1BA7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65592" y="20848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F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elasticsearch2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65592" y="25146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node.name=node-2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9201 / 9301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23360" y="2788920"/>
            <a:ext cx="4142232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023360" y="2331720"/>
            <a:ext cx="4142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discovery.seed_hosts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4106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discovery.seed_hosts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09160" y="3941064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each node where to find the other node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6402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cluster.initial_master_nodes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09160" y="4764024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on first boot — sets which nodes can elect the first master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132435"/>
          </a:solidFill>
          <a:ln w="12700">
            <a:solidFill>
              <a:srgbClr val="1F3A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5869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esdata1 / esdata2 volumes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09160" y="5586984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each node's data independently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4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5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A7C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00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= Elasticsearch (store) + Logstash (process) + Kibana (visualize)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A7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3591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spins up all three services with one command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A7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54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logstash.conf defines an input → filter → output pipeline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A7C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12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6758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flags: single-node discovery, security off, JVM heap limits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48640" y="43708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A7C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08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33425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http://localhost:9200/ and http://localhost:5601/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BA7C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99262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Dev Tools lets you query Elasticsearch directly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77240" y="6519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8bit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24" name="8bit System Logo Foo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56832"/>
            <a:ext cx="296860" cy="2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26080" y="-2286000"/>
            <a:ext cx="5486400" cy="5486400"/>
          </a:xfrm>
          <a:prstGeom prst="ellipse">
            <a:avLst/>
          </a:prstGeom>
          <a:solidFill>
            <a:srgbClr val="0F2530"/>
          </a:solidFill>
          <a:ln/>
        </p:spPr>
      </p:sp>
      <p:sp>
        <p:nvSpPr>
          <p:cNvPr id="3" name="Shape 1"/>
          <p:cNvSpPr/>
          <p:nvPr/>
        </p:nvSpPr>
        <p:spPr>
          <a:xfrm>
            <a:off x="9262872" y="3657600"/>
            <a:ext cx="5486400" cy="5486400"/>
          </a:xfrm>
          <a:prstGeom prst="ellipse">
            <a:avLst/>
          </a:prstGeom>
          <a:solidFill>
            <a:srgbClr val="0F2530"/>
          </a:solidFill>
          <a:ln/>
        </p:spPr>
      </p:sp>
      <p:pic>
        <p:nvPicPr>
          <p:cNvPr id="4" name="Image 0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6" y="822960"/>
            <a:ext cx="2468880" cy="16642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889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Thanks for Watching!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Learning with 8bit System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Share &amp; Subscribe for more DevOps tutorials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45836" y="4526280"/>
            <a:ext cx="1097280" cy="0"/>
          </a:xfrm>
          <a:prstGeom prst="line">
            <a:avLst/>
          </a:prstGeom>
          <a:noFill/>
          <a:ln w="19050">
            <a:solidFill>
              <a:srgbClr val="2A4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7548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E85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Anil Babu  |  github.com/AnilBabu01  |  linkedin.com/in/anil-babu-19958a208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1089</Words>
  <Application>Microsoft Office PowerPoint</Application>
  <PresentationFormat>Widescreen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Anil Babu</cp:lastModifiedBy>
  <cp:revision>2</cp:revision>
  <dcterms:created xsi:type="dcterms:W3CDTF">2026-08-06T07:06:50Z</dcterms:created>
  <dcterms:modified xsi:type="dcterms:W3CDTF">2026-08-06T07:50:37Z</dcterms:modified>
</cp:coreProperties>
</file>